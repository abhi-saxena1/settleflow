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ffdd519ff94105" /><Relationship Type="http://schemas.openxmlformats.org/officeDocument/2006/relationships/extended-properties" Target="/docProps/app.xml" Id="Rab2d3fb0870a4545" /><Relationship Type="http://schemas.openxmlformats.org/officeDocument/2006/relationships/officeDocument" Target="/ppt/presentation.xml" Id="Rd6a1adcf74764e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0ae10eb3554bf4"/>
  </p:sldMasterIdLst>
  <p:notesMasterIdLst>
    <p:notesMasterId xmlns:r="http://schemas.openxmlformats.org/officeDocument/2006/relationships" r:id="R909d0e3187d14e8a"/>
  </p:notesMasterIdLst>
  <p:sldIdLst>
    <p:sldId xmlns:r="http://schemas.openxmlformats.org/officeDocument/2006/relationships" id="256" r:id="R6c7b588e2a024a94"/>
    <p:sldId xmlns:r="http://schemas.openxmlformats.org/officeDocument/2006/relationships" id="257" r:id="R7de9706ecafc455d"/>
    <p:sldId xmlns:r="http://schemas.openxmlformats.org/officeDocument/2006/relationships" id="258" r:id="R76f3cbb4fa23454f"/>
    <p:sldId xmlns:r="http://schemas.openxmlformats.org/officeDocument/2006/relationships" id="259" r:id="R2d9ae031aa9e4182"/>
    <p:sldId xmlns:r="http://schemas.openxmlformats.org/officeDocument/2006/relationships" id="260" r:id="R42341236d14c4337"/>
    <p:sldId xmlns:r="http://schemas.openxmlformats.org/officeDocument/2006/relationships" id="261" r:id="R913384504db34fd2"/>
    <p:sldId xmlns:r="http://schemas.openxmlformats.org/officeDocument/2006/relationships" id="262" r:id="Rbf1af15e878f411c"/>
    <p:sldId xmlns:r="http://schemas.openxmlformats.org/officeDocument/2006/relationships" id="263" r:id="R7c378bbbbe0641ad"/>
    <p:sldId xmlns:r="http://schemas.openxmlformats.org/officeDocument/2006/relationships" id="264" r:id="R8f4713cf98594a30"/>
    <p:sldId xmlns:r="http://schemas.openxmlformats.org/officeDocument/2006/relationships" id="265" r:id="Rb8268e0c2be8403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ae10eb3554bf4" /><Relationship Type="http://schemas.openxmlformats.org/officeDocument/2006/relationships/theme" Target="/ppt/theme/theme1.xml" Id="Rfdc500ab01da4c1f" /><Relationship Type="http://schemas.openxmlformats.org/officeDocument/2006/relationships/notesMaster" Target="/ppt/notesMasters/notesMaster1.xml" Id="R909d0e3187d14e8a" /><Relationship Type="http://schemas.openxmlformats.org/officeDocument/2006/relationships/presProps" Target="/ppt/presProps.xml" Id="R0dfd59e7b9a94776" /><Relationship Type="http://schemas.openxmlformats.org/officeDocument/2006/relationships/viewProps" Target="/ppt/viewProps.xml" Id="R7f30ff19055a4f2e" /><Relationship Type="http://schemas.openxmlformats.org/officeDocument/2006/relationships/tableStyles" Target="/ppt/tableStyles.xml" Id="R6748a0351e574482" /><Relationship Type="http://schemas.openxmlformats.org/officeDocument/2006/relationships/slide" Target="/ppt/slides/slide1.xml" Id="R6c7b588e2a024a94" /><Relationship Type="http://schemas.openxmlformats.org/officeDocument/2006/relationships/slide" Target="/ppt/slides/slide2.xml" Id="R7de9706ecafc455d" /><Relationship Type="http://schemas.openxmlformats.org/officeDocument/2006/relationships/slide" Target="/ppt/slides/slide3.xml" Id="R76f3cbb4fa23454f" /><Relationship Type="http://schemas.openxmlformats.org/officeDocument/2006/relationships/slide" Target="/ppt/slides/slide4.xml" Id="R2d9ae031aa9e4182" /><Relationship Type="http://schemas.openxmlformats.org/officeDocument/2006/relationships/slide" Target="/ppt/slides/slide5.xml" Id="R42341236d14c4337" /><Relationship Type="http://schemas.openxmlformats.org/officeDocument/2006/relationships/slide" Target="/ppt/slides/slide6.xml" Id="R913384504db34fd2" /><Relationship Type="http://schemas.openxmlformats.org/officeDocument/2006/relationships/slide" Target="/ppt/slides/slide7.xml" Id="Rbf1af15e878f411c" /><Relationship Type="http://schemas.openxmlformats.org/officeDocument/2006/relationships/slide" Target="/ppt/slides/slide8.xml" Id="R7c378bbbbe0641ad" /><Relationship Type="http://schemas.openxmlformats.org/officeDocument/2006/relationships/slide" Target="/ppt/slides/slide9.xml" Id="R8f4713cf98594a30" /><Relationship Type="http://schemas.openxmlformats.org/officeDocument/2006/relationships/slide" Target="/ppt/slides/slide10.xml" Id="Rb8268e0c2be840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5cca1ce70f940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9ad9e666f314420" /><Relationship Type="http://schemas.openxmlformats.org/officeDocument/2006/relationships/notesMaster" Target="/ppt/notesMasters/notesMaster1.xml" Id="Rba487cb5cb11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0d367b4f6c4f56" /><Relationship Type="http://schemas.openxmlformats.org/officeDocument/2006/relationships/notesMaster" Target="/ppt/notesMasters/notesMaster1.xml" Id="R4610043249e649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154c13e46f04658" /><Relationship Type="http://schemas.openxmlformats.org/officeDocument/2006/relationships/notesMaster" Target="/ppt/notesMasters/notesMaster1.xml" Id="R2f69b04867264b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19570dba334fab" /><Relationship Type="http://schemas.openxmlformats.org/officeDocument/2006/relationships/notesMaster" Target="/ppt/notesMasters/notesMaster1.xml" Id="R75b4920eec1140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fd8acc51a84014" /><Relationship Type="http://schemas.openxmlformats.org/officeDocument/2006/relationships/notesMaster" Target="/ppt/notesMasters/notesMaster1.xml" Id="Rad63a064ad4c4f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12f4d1428a74c2d" /><Relationship Type="http://schemas.openxmlformats.org/officeDocument/2006/relationships/notesMaster" Target="/ppt/notesMasters/notesMaster1.xml" Id="R719f659793ca4ea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a2867231054b83" /><Relationship Type="http://schemas.openxmlformats.org/officeDocument/2006/relationships/notesMaster" Target="/ppt/notesMasters/notesMaster1.xml" Id="Re5b0af94766b44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2beea9d8184b83" /><Relationship Type="http://schemas.openxmlformats.org/officeDocument/2006/relationships/notesMaster" Target="/ppt/notesMasters/notesMaster1.xml" Id="Rbd8b071dd88f45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de200dd5afd4168" /><Relationship Type="http://schemas.openxmlformats.org/officeDocument/2006/relationships/notesMaster" Target="/ppt/notesMasters/notesMaster1.xml" Id="R511b44ecc1a942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30f4266dd94e7a" /><Relationship Type="http://schemas.openxmlformats.org/officeDocument/2006/relationships/notesMaster" Target="/ppt/notesMasters/notesMaster1.xml" Id="Re3d619c375444e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6ebff3b46c449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366cea411444e6d" /><Relationship Type="http://schemas.openxmlformats.org/officeDocument/2006/relationships/slideLayout" Target="/ppt/slideLayouts/slideLayout2.xml" Id="R4c7316030ec94f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c7316030ec94f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70711e6b0e492c" /><Relationship Type="http://schemas.openxmlformats.org/officeDocument/2006/relationships/notesSlide" Target="/ppt/notesSlides/notesSlide1.xml" Id="Rb0178b3c566f48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d4b54ba1164507" /><Relationship Type="http://schemas.openxmlformats.org/officeDocument/2006/relationships/notesSlide" Target="/ppt/notesSlides/notesSlide2.xml" Id="R887afd375dd846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2fd8eb7d64103" /><Relationship Type="http://schemas.openxmlformats.org/officeDocument/2006/relationships/notesSlide" Target="/ppt/notesSlides/notesSlide3.xml" Id="R852ea4745fbb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ecc1b2d3a14cd7" /><Relationship Type="http://schemas.openxmlformats.org/officeDocument/2006/relationships/notesSlide" Target="/ppt/notesSlides/notesSlide4.xml" Id="R8e4745f4f710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49a93491de447c" /><Relationship Type="http://schemas.openxmlformats.org/officeDocument/2006/relationships/notesSlide" Target="/ppt/notesSlides/notesSlide5.xml" Id="R171b3194b5a846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6ea316385a4de1" /><Relationship Type="http://schemas.openxmlformats.org/officeDocument/2006/relationships/notesSlide" Target="/ppt/notesSlides/notesSlide6.xml" Id="R135d1412f9184b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a8bb9d6d8c421c" /><Relationship Type="http://schemas.openxmlformats.org/officeDocument/2006/relationships/notesSlide" Target="/ppt/notesSlides/notesSlide7.xml" Id="R0e05aff9777348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9451c72afc4cfe" /><Relationship Type="http://schemas.openxmlformats.org/officeDocument/2006/relationships/notesSlide" Target="/ppt/notesSlides/notesSlide8.xml" Id="R67da84018ca74c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07391c53ec4373" /><Relationship Type="http://schemas.openxmlformats.org/officeDocument/2006/relationships/notesSlide" Target="/ppt/notesSlides/notesSlide9.xml" Id="Reccfd3f3b7c748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ce1b2cd50f44fc" /><Relationship Type="http://schemas.openxmlformats.org/officeDocument/2006/relationships/notesSlide" Target="/ppt/notesSlides/notesSlide10.xml" Id="R319afe0e09704a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A96516-F06C-4AF8-B067-FE86312F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20D"/>
          </a:solidFill>
          <a:ln xmlns:a="http://schemas.openxmlformats.org/drawingml/2006/main" w="0">
            <a:solidFill>
              <a:srgbClr val="07120D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10091-BA3D-47E4-B6D9-12D06BAD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819150"/>
            <a:ext cx="3714750" cy="4953000"/>
          </a:xfrm>
          <a:prstGeom xmlns:a="http://schemas.openxmlformats.org/drawingml/2006/main" prst="roundRect">
            <a:avLst>
              <a:gd name="adj" fmla="val 8718"/>
            </a:avLst>
          </a:prstGeom>
          <a:solidFill xmlns:a="http://schemas.openxmlformats.org/drawingml/2006/main">
            <a:srgbClr val="C9E394"/>
          </a:solidFill>
          <a:ln xmlns:a="http://schemas.openxmlformats.org/drawingml/2006/main" w="0">
            <a:solidFill>
              <a:srgbClr val="C9E394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3C5D3B-9E1A-4D09-9D7F-11D7E3063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200150"/>
            <a:ext cx="2990850" cy="4191000"/>
          </a:xfrm>
          <a:prstGeom xmlns:a="http://schemas.openxmlformats.org/drawingml/2006/main" prst="roundRect">
            <a:avLst>
              <a:gd name="adj" fmla="val 12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2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794DD-B4E3-4392-B06C-C11E19F7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1381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SettleFlow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2005C-FDA0-480C-98CB-0475AE7F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466850"/>
            <a:ext cx="1066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INVOICES     ESCROW     RISK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36588-5E71-472A-A143-A4E78CF0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47900"/>
            <a:ext cx="228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Instant B2B settlement with on-chain escrow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8EF00-2DDE-44F9-AE0E-D189E7B6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11620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D4DE"/>
          </a:solidFill>
          <a:ln xmlns:a="http://schemas.openxmlformats.org/drawingml/2006/main" w="0">
            <a:solidFill>
              <a:srgbClr val="F7D4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4D7FB1-A38F-4C5A-858A-C57EC759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3380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D4DE"/>
          </a:solidFill>
          <a:ln xmlns:a="http://schemas.openxmlformats.org/drawingml/2006/main" w="0">
            <a:solidFill>
              <a:srgbClr val="F7D4DE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Dodo 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9337AD-EB7E-410E-B28E-B2E92AE1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95700"/>
            <a:ext cx="11239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3C19BE-682C-498F-8AD7-58BF5EF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733800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Anchor vault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06D0D0-A278-45A4-9DD0-11466FCC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3C5EAD-29AD-43FF-BBDD-3C315FB5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4375"/>
            <a:ext cx="419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5EE38-BDDD-4734-A782-1DABB4DD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SETTLEFLOW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07DBDB-87A6-46C5-AE27-2E0BCCF2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19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Escrow protected invoices for modern B2B payments.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72ABB-008C-4C19-B7DA-31C06D63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42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A hybrid fiat to on-chain settlement rail: buyers pay by card, treasury locks USDC in a Solana Anchor vault, sellers withdraw only after release.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A924B-E787-45F4-BDFA-68265355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34000"/>
            <a:ext cx="5334000" cy="914400"/>
          </a:xfrm>
          <a:prstGeom xmlns:a="http://schemas.openxmlformats.org/drawingml/2006/main" prst="roundRect">
            <a:avLst>
              <a:gd name="adj" fmla="val 229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ABCBFE-075C-4431-BBFD-CC5057C8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Seconds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3E32B-B689-4B47-BD12-E6EF37E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00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settlement movement after approval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C65CF-D741-4AB6-B800-8C6CBDC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864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USDC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5EFED-D25D-4580-85F1-DD9392515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6000750"/>
            <a:ext cx="1524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escrowed in programmable vaults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A94E9-845D-4351-8659-C1D16291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864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AI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AF704-A044-4A2C-957C-43C3A7EF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0007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invoice-level decision support</a:t>
            </a:r>
          </a:p>
        </p:txBody>
      </p:sp>
    </p:spTree>
    <p:extLst>
      <p:ext uri="{BB962C8B-B14F-4D97-AF65-F5344CB8AC3E}">
        <p14:creationId xmlns:p14="http://schemas.microsoft.com/office/powerpoint/2010/main" val="1516779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7EE681-F77F-489E-8DA1-4A32CF9B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CD01EC-997F-4E0D-85B5-76FB155F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MARKET PAIN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C3D6F-2D28-4A99-812D-0980E5DB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B0359-2274-461D-89D4-71DB0F8F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SME payments break at the exact moment trust matters most.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836F3-B3E7-4E21-AF25-26F22D26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Invoices are easy to create. Settlement, proof, custody, and release are still stitched together across spreadsheets, bank portals, card processors, and wallet tabs.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9C7E32-F9B7-4D59-9709-174F13EA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31432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84C59A-4FA7-42D2-BF4D-54741F67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766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Slow cash cycle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E060A-3988-4BD1-BAFE-A41F6F33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2838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Card and bank flows confirm payment, but suppliers still wait for manual payout approval.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085CA4-EF03-4690-92F2-860D438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1432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E24E0-9CE0-43BB-A6C0-3D9A8CFD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766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Counterparty anxiety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2D3670-9243-4ED1-9C69-C5C8E4EF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2838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Buyers worry about delivery. Sellers worry about nonpayment. Neither side can see a shared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8BB9AF-E6C1-40FA-B9D9-61232DBC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43250"/>
            <a:ext cx="314325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0A5B2D-DB3A-47D6-91CE-57E82F39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76600"/>
            <a:ext cx="2838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Ops fragmentation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AE0C9B-34CF-4FFE-8188-3B246C81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62350"/>
            <a:ext cx="283845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Risk review, payment status, escrow custody, and reconciliation live in separate systems.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39FF14-4C91-4AE8-8100-FD543328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9810750" cy="5143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A22BA-C07C-419F-9FB8-BD049AB5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435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SettleFlow turns payment confirmation into verifiable escrow state, then makes release and withdrawal explicit.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5BDA3-78E0-45C0-BEF1-41E071F2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73B71-9C3D-4B58-A9CF-F9FB6017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C1619D-A58B-45DA-9492-1EA866EE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53065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16DB85-8781-4C35-9AB2-9998FDD4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AD94B0-6AB1-4767-8008-53ADA772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PRODUCT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D361FC-11FD-47FE-9983-CA094E7E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70293-9AF3-409A-9217-5F99732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92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SettleFlow is the control plane between fiat collection and on-chain escrow.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FDED7-CDE5-495A-94EC-015C11F1D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The product does not pretend a card payment is seller settlement. It separates payment confirmation, escrow custody, release, and withdrawal into auditable states.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A3A379-458F-47A1-B781-CA7384D0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695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01AA8-05B1-45A5-8C17-57573155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Create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2F71A-03F0-4BFF-95B4-F88BB2DA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00450"/>
            <a:ext cx="1390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Seller creates a protected invoice and live tracking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1030B-4489-46DA-858E-7C30FCB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3857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0745D-52C6-4FEE-94D8-D902FF8F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1695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91A0C2-6762-4980-855D-902E318E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14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Collect fiat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FE127-E09A-4DA3-B51D-20C57F4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00450"/>
            <a:ext cx="1390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Buyer pays through Dodo Checkout in test or live mode.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F592D9-4581-429D-B04C-113A5981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4400" y="3857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E2953F-F080-4856-8D4C-55105914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81350"/>
            <a:ext cx="1695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83E4D4-A4D8-4DD9-B8EE-74792EDF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314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Fund vault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C38EE1-09D0-41DE-A8E2-A81EBDDB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600450"/>
            <a:ext cx="1390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Treasury locks USDC into a Solana Anchor PDA vault.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6D025C-5E98-4F84-A9E4-6A9FED06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34200" y="3857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8F2A7C-3D3F-412B-B373-C9ECE75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1695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E2E857-C273-43A4-AF57-7C05654D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314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A689E0-0A8C-4710-912C-7C3D9D54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00450"/>
            <a:ext cx="1390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Buyer approval unlocks seller withdrawal rights.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77315-3936-463F-9473-45AD167F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0" y="38576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2CD41-BEE0-412F-8D5F-C75FB2AA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81350"/>
            <a:ext cx="169545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052E9-2F25-488A-943A-0D091FD57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14700"/>
            <a:ext cx="1390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Withdraw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4ADC9A-7C7A-45AD-9823-15BD06A1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600450"/>
            <a:ext cx="13906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Seller signs with wallet and receives USDC.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4A8E48-5C64-4F4A-988C-A53C24C0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99060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F0D76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7A1626-7E22-49AE-AFF2-1D276F64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5780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0">
            <a:solidFill>
              <a:srgbClr val="FFF8D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2500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25000"/>
                </a:solidFill>
                <a:latin typeface="Aptos"/>
                <a:ea typeface="Aptos"/>
                <a:cs typeface="Aptos"/>
              </a:rPr>
              <a:t>Design principle: each status represents real payment infrastructure, not a demo shortcut.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7976B-C932-438F-A963-B5BD7A19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16BE64-8F41-422E-BB6A-F42DA1119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B674E6-F42F-47EC-A406-568E6E27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283912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B7C2BC-CDF0-4DED-9DD1-3A4FC9F8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181F6-016E-4BEF-8C86-5ACB6DB5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57EE5-1084-44E3-A55F-4EB57F09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FC13C-F87C-4F2D-A624-B00EAB80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The hybrid pipeline makes fiat usable without keeping settlement off-chain.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C006E8-2955-47E1-A725-6CE053AE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121CB-A720-4B7A-961E-D7288261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98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Next.js 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B8EC6-DA22-495C-8B5B-C3E3C88A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Dashboard, public invoice link, wallet connect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1CB2D8-6F04-4C74-AA10-F9C1E8D8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9603CD-378E-44B2-97D0-85A97064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098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API + Supabase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3091B-1802-44CC-8A8B-59858A29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Auth, invoice state, events, RLS-backed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BD669-B48B-4BDB-B631-C3FB4D0C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7650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00948-5B76-461A-A050-8E6E736E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0985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Dodo Payments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06DBB7-0EB4-4A08-A663-501D10CB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9560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Checkout session, webhook 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42110-14EB-4238-8591-085BD110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6C7328-EDD5-4F00-9610-CAC353131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Treasury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AC6D51-A28D-4766-A8BE-CCF94E90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Server-side signer, liquidity preflight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3C9F3-57A8-4FA9-B1C1-C9E6C08E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767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F2753-E671-469E-A710-ED10BB1F6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101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Anchor escrow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007AAB-C497-40D5-B868-990E6BAA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8958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PDA escrow account and SPL USDC vault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F6F212-6D6C-4CE3-91FB-B1EEBCDD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76750"/>
            <a:ext cx="30480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967FD-3BB7-41FB-84D6-66F62813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101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Seller wallet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8C2FD-DB72-4850-ABEA-6163F5B3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2743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Wallet-signed withdrawal to seller token account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832C8-C56C-470E-AF34-1F912C42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30384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63FA49-45C3-460A-A42C-8CC273DB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03847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478F44-E399-4A72-A6EC-1FD222DA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53550" y="3600450"/>
            <a:ext cx="742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EAF7A4-FA2D-449E-BE5A-27300461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29550" y="50387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E41317-024C-4E47-AE92-E6DAEB48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4171950" y="5038725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3B6C7D-EADC-457F-AC51-826C1EA9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Secrets never leave the server. The seller withdrawal is wallet-signed by the seller.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9270DD-64F3-4D80-BFAD-D4A5058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AE1C8A-1685-44B0-A674-4A30A384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182ED-AE59-4EB1-92DE-16276132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07355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68DDA8-B916-47FB-88E6-66CC7408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7C543-34AE-4082-97A7-54CDDEA3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STATE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5FC244-19E1-4D61-8D9E-93F3941D4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04A83-C2D2-483A-A7EB-19C3F87F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572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 single state machine keeps payment, escrow, and seller payout honest.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371B5-3232-4CE9-89E5-41177FE8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B5FAC-9D46-4A54-BB7E-DDA98E98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3D9FA4-598A-41A1-AFD0-4B16A452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draft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8CD8A-7B30-4ED9-874C-3693CABC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1623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40CE9E-CAC4-4573-99EB-8232035C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C3EB7-0454-4004-A09D-0D5DEFA8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5D361-6153-4AA4-AB14-AE00BD75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checkout</a:t>
            </a:r>
          </a:p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19688-E6DA-4EB8-BDDD-F50BC9F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623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A5999F-5C68-477F-847E-9E4FCC0A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5FF4F-5856-42FD-ADEF-5A45649F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0">
            <a:solidFill>
              <a:srgbClr val="FFF8D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6D869-3995-4AF8-90B4-C0486855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0">
            <a:solidFill>
              <a:srgbClr val="FFF8D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fiat</a:t>
            </a:r>
          </a:p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paid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683703-48E9-4712-B85F-B5619A3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1623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37E647-8AEC-4BBE-A7B3-3F55EF2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FF8D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5D20E-2DB6-416F-A7C7-871082515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0">
            <a:solidFill>
              <a:srgbClr val="FFF8D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D99449-7172-46D6-97CE-EC8B8D5C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D8"/>
          </a:solidFill>
          <a:ln xmlns:a="http://schemas.openxmlformats.org/drawingml/2006/main" w="0">
            <a:solidFill>
              <a:srgbClr val="FFF8D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treasury</a:t>
            </a:r>
          </a:p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funding</a:t>
            </a:r>
          </a:p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21EC0-FB03-46AF-A82E-2E470E3E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623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0B0A89-C7E8-4545-A455-7E6A7AB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888C25-1BBC-4484-A75B-695A0425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35F7A3-D76A-406E-989E-EEC0CD1A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escrow</a:t>
            </a:r>
          </a:p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funded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CC199-8CBE-43D6-A25A-7681CB77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623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5AAC87-FE56-430F-8E55-E0814F46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E077A-E86C-4513-850F-DE736912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1A82F-2253-4FA0-913E-6D7997A2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released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0C220-F655-4729-9C75-E1E57FF9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9C02F8-C92E-4C62-BD65-CD2608D6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571750"/>
            <a:ext cx="1219200" cy="12192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913215-0807-4CFC-A6BD-DEC6F547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05100"/>
            <a:ext cx="419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89906-C697-459E-9EBA-1C06B8AE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24200"/>
            <a:ext cx="1066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withdrawn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19917A-8C5C-4AE5-884B-42DA618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93345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51558-818E-4FA3-8208-DF7BAC50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876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Dodo success only moves to fiat_paid. Escrow is funded only after treasury USDC lands in the Anchor vault. Seller is paid only after withdrawal.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F3903F-11A1-4AF3-A944-5D45010E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83AF4E-CBAB-4A7D-9F6E-973482EB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4A7005-8F3F-4C14-9335-9B9AD417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390400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400168-C4B2-4D26-8AD8-ED1C7613B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89849-7EEA-42F0-87D4-1FF2F343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PRODUCT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B305E-8615-4A28-ACE0-A638789D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51832-103A-4A6A-90EF-51364E0F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01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The MVP already exposes the roles SMEs need to trust the 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F153E-589B-4AB2-B119-3B897451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4953000" cy="3105150"/>
          </a:xfrm>
          <a:prstGeom xmlns:a="http://schemas.openxmlformats.org/drawingml/2006/main" prst="roundRect">
            <a:avLst>
              <a:gd name="adj" fmla="val 73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FF8E04-B5E4-4BC5-A35B-03B89136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Seller dashboard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24055-A3A8-48BD-A72C-1ADC018F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4000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Create invoice, track total settled, monitor escrow state, delete stale records, and release after work acceptance.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D34355-14C3-4000-B95D-37C40F59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1219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E8"/>
          </a:solidFill>
          <a:ln xmlns:a="http://schemas.openxmlformats.org/drawingml/2006/main" w="0">
            <a:solidFill>
              <a:srgbClr val="EEF7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C8187C-8240-4593-BA4E-C15929AC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8"/>
          </a:solidFill>
          <a:ln xmlns:a="http://schemas.openxmlformats.org/drawingml/2006/main" w="0">
            <a:solidFill>
              <a:srgbClr val="EEF7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Total settled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6C549-A32E-4BEE-8A82-D88020DD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00500"/>
            <a:ext cx="1219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E8"/>
          </a:solidFill>
          <a:ln xmlns:a="http://schemas.openxmlformats.org/drawingml/2006/main" w="0">
            <a:solidFill>
              <a:srgbClr val="EEF7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0C2132-DB6C-4CE0-84A6-B7148FA6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1719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8"/>
          </a:solidFill>
          <a:ln xmlns:a="http://schemas.openxmlformats.org/drawingml/2006/main" w="0">
            <a:solidFill>
              <a:srgbClr val="EEF7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Avg settlement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758DA-806F-4F22-A263-8226B230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000500"/>
            <a:ext cx="12192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E8"/>
          </a:solidFill>
          <a:ln xmlns:a="http://schemas.openxmlformats.org/drawingml/2006/main" w="0">
            <a:solidFill>
              <a:srgbClr val="EEF7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906107-8E8B-4478-9011-1CC5D303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71950"/>
            <a:ext cx="990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E8"/>
          </a:solidFill>
          <a:ln xmlns:a="http://schemas.openxmlformats.org/drawingml/2006/main" w="0">
            <a:solidFill>
              <a:srgbClr val="EEF7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Total invoices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CB8CC-D134-473E-96DC-ACA00A38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28850"/>
            <a:ext cx="4381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A023D-03E4-400B-80FA-7A021E50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Public live invoice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14C442-5006-4995-831A-DDF51D1E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47950"/>
            <a:ext cx="4076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Shareable seller-safe tracking page with activity timeline, transaction hashes, and wallet withdrawal.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E32AB9-027D-4CC3-9085-C7795F7F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438150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828E71-D8B2-4CA5-BC74-B787F5E1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4076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Invoice detail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9EDFD6-E639-4B86-8C83-38981C07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40767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Payment timeline, Dodo checkout, Anchor escrow trace, release and withdraw actions.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37D49A-C7D3-46FE-82F0-E247B222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BCABD5-B594-49AA-B2CF-C92C9FA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4197DB-4191-4DFC-A910-653276C9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603624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AE089E-CDC9-4B26-9CAE-7F5D77F9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CDEA1-98B7-41F3-A873-0A54C3FE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RISK AND CONTROLS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C9FC0B-00AF-4EAD-9E3A-63C745A3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D57A6-27E2-431E-803A-C907177B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905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Trust comes from explicit controls, not from hiding complexity.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73DD5D-0427-4FC3-B9B5-45A4ECF7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30289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24F4D4-67A4-4A22-8429-65DE58B4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098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AI risk scoring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453F5-D6B6-43D5-B3A6-CF3606B2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Amount-sensitive recommendations for invoice review before release.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C79A7-B969-41DF-B72B-96C0510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476500"/>
            <a:ext cx="30289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5F4AF2-2F52-44CD-9B23-CA800723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098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Treasury liquidity preflight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AB709C-155B-4682-BB07-CDC7509D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9560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Checkout is blocked when treasury USDC cannot cover escrow.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DCE57-677C-4410-A202-AAD0B18D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76500"/>
            <a:ext cx="30289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BE2339-8056-40F1-84B9-E1EB60B0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985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Webhook verification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346635-096B-4475-A88A-16734BB1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89560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Dodo events update invoices only after signed webhook or sync verification.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F730F-5F14-4056-A759-C102B3ADF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30289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967AB-A907-48A6-9AD4-4D250329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19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RLS and auth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C7137B-4EE8-4C88-819A-3D649238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Supabase keeps user dashboards private and public access token-scoped.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1B14B2-86B4-4ACB-8554-67280C58D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286250"/>
            <a:ext cx="30289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69FB27-FAE7-432A-8479-BBBC9782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19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Server-only secrets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8FF2D-FAAB-4FEC-B84D-CEB929D2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7053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Treasury keypair and service role keys never touch the browser.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2544A2-78B9-4160-B071-141685E6D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286250"/>
            <a:ext cx="30289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FC8F51-E0E0-4E45-955A-35E4D216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19600"/>
            <a:ext cx="27241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Idempotent lifecycle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8DC3DE-152B-4BF9-ACCB-E13DB1E3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05350"/>
            <a:ext cx="2724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No duplicate funding, no direct completion shortcut after card payment.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061AB0-A67B-4CDA-8D35-CAE6054C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4227B7-6C08-4420-873A-8047E92C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60BAE6-DDEE-4FBD-9F99-9947E12F7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955906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9868C0-9102-41D9-B7FC-89CD6D87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EB2FB-9472-4BDD-B970-9EC1291D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DEMO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CA308A-BDA1-45B8-AED4-C6437B37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240F3-7384-4CEB-B960-E90399F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7810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The current build proves the hard integration path, not only the UI.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66FF6-EF82-440F-9AD7-8A2799E9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Invoice creation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D95316-3CE2-4711-9041-56EEC8537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6"/>
          </a:solidFill>
          <a:ln xmlns:a="http://schemas.openxmlformats.org/drawingml/2006/main" w="0">
            <a:solidFill>
              <a:srgbClr val="DDE8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C9B971-F6C5-4D25-88C2-92E932D4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D74D55-DAB8-4A55-BD70-95C9A308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A150A5-5E7D-4A0F-ACD7-6A8E031A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Dodo 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896321-8AF0-4CD9-BEDD-73FA7BD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6"/>
          </a:solidFill>
          <a:ln xmlns:a="http://schemas.openxmlformats.org/drawingml/2006/main" w="0">
            <a:solidFill>
              <a:srgbClr val="DDE8D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FEE009-72AB-439E-B49B-D5414AE4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956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81A72-39E7-4978-987C-561EA70A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003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6A1E4-5F00-4C30-AD53-701A8ACC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Webhook sync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959FEC-E54A-4289-B899-684DD209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6"/>
          </a:solidFill>
          <a:ln xmlns:a="http://schemas.openxmlformats.org/drawingml/2006/main" w="0">
            <a:solidFill>
              <a:srgbClr val="DDE8D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5CD99-F2A5-4BCB-9E8B-B0381EBB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4800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1DBC8B-EF4C-411E-B26D-83F0B34C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DC0D8-2F81-404B-B8DA-A72995942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62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Treasury preflight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217D84-F058-4164-AE76-32E0880E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6"/>
          </a:solidFill>
          <a:ln xmlns:a="http://schemas.openxmlformats.org/drawingml/2006/main" w="0">
            <a:solidFill>
              <a:srgbClr val="DDE8D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0D2550-E469-4813-8701-E14E767D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CE9265-A13A-4303-BCF3-229FF486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33DCB8-AEE2-4546-8E90-37C96A13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Anchor vault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3D5723-5983-4E04-A584-E6BA45A8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6"/>
          </a:solidFill>
          <a:ln xmlns:a="http://schemas.openxmlformats.org/drawingml/2006/main" w="0">
            <a:solidFill>
              <a:srgbClr val="DDE8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2110E-9CCB-46FE-B5D3-92B98E3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45339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D2D51-B587-49F3-A829-D28C7380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005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85%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E0DC40-3A52-4F05-B639-6987F660D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Seller withdrawal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5822D-7B38-4367-87ED-41A6819C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5334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8D6"/>
          </a:solidFill>
          <a:ln xmlns:a="http://schemas.openxmlformats.org/drawingml/2006/main" w="0">
            <a:solidFill>
              <a:srgbClr val="DDE8D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0425C0-3535-4928-8756-BB155FFD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29200"/>
            <a:ext cx="48006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7912DE-7C5F-4CE4-A3C2-8F1EBE1E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339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90%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9C6572-D30C-4437-A18F-B307355C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190750"/>
            <a:ext cx="1524000" cy="238125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AE8DC1-3506-44C4-AC34-2FBB5D8C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D59A8D-C572-4C4B-B0C9-30ACCD35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core systems wired into one flow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86123E-C741-4AA5-B5D7-6889E1A2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9F8E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D9F8E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46ADD7-533B-4581-B243-BD25A388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90975"/>
            <a:ext cx="1123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payment states visible to the user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2DD58-E5EC-4968-9F31-0DEAF3C3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250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25000"/>
                </a:solidFill>
                <a:latin typeface="Aptos"/>
                <a:ea typeface="Aptos"/>
                <a:cs typeface="Aptos"/>
              </a:rPr>
              <a:t>Demo caveat: treasury liquidity must be maintained before checkout, because Dodo fiat collection does not mint USDC by itself.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159F63-7691-4FA1-B9D5-17D6EF4F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D6FFE2-6AAA-41C7-BC59-44D950D1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E4C84E-969F-4784-B272-69B9C2E1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36790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5820FE-4FE4-4D3A-A230-C1D5EB3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13C10-585F-4833-AC7E-AAE19048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GO TO MARKET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F00F9A-F5C1-4863-83E3-C50C33ED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FB44F-A670-436B-9DB6-C8E7193B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096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The wedge is high-trust projects where both sides need proof before payout.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D9B12-A5A1-49BD-B793-D0C4F784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3048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A1A11-D43F-4B90-BFA2-BF49A995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Initial users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8B5A3-4346-4F0E-9B46-271A1538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Agencies, freelancers, export SMEs, and B2B service providers managing milestone-like delivery.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F111A4-6782-4BC1-A7ED-12437A2B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048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82DE0-7CFC-47B4-8508-C6D1E459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Pricing motion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7DAA10-B7AB-4BE7-B076-15F9C42B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0035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Escrow fee plus payment processing economics, with premium risk workflows for larger invoices.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E10923-4E0A-4980-A998-E3C8CAF9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81250"/>
            <a:ext cx="3048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F2B9F-5359-412B-832C-786A0989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743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Expansion path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692E31-665B-4BD4-BA0F-F099D150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743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From single invoices to vendor portals, role permissions, dispute workflows, and recurring settlement rails.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CC16B6-CFBD-46FC-B8BF-F95481F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8953500" cy="8001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857D7-1C74-4AC6-943B-0577E0C7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38700"/>
            <a:ext cx="8239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40E"/>
          </a:solidFill>
          <a:ln xmlns:a="http://schemas.openxmlformats.org/drawingml/2006/main" w="0">
            <a:solidFill>
              <a:srgbClr val="06140E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Positioning: Stripe-like checkout for the buyer, Notion-like clarity for operators, blockchain custody where trust actually needs enforcement.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05509-E26C-46F8-B53F-23108A4D9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F3A306-E476-4371-8D65-6BDF4781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2B7F3E-7EB2-4EB1-9764-A44E2C21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3138726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A7FFA-E545-4217-B585-98C74D93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9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96B"/>
          </a:solidFill>
          <a:ln xmlns:a="http://schemas.openxmlformats.org/drawingml/2006/main" w="0">
            <a:solidFill>
              <a:srgbClr val="13A96B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668903-9E4A-45C3-B5F8-BB57C0E4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798FD-E736-4FE4-8429-DDA47963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1950"/>
            <a:ext cx="57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C59A5-38B1-4478-97DB-3C4EBDBF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Next step: harden the demo into a testnet pilot for real seller payouts.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10273-9A94-4604-A169-3EC043C6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190750" cy="23812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79F8CF-5AED-462C-BC12-26FA58D4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E551F-BCD4-4AB4-8253-CB865752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Finish cleanup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C47C6-8FD7-49E0-947A-576DA8F5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Treasury liquidity panel, old invoice cleanup, stronger Dodo event reconciliation.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5421CA-C841-47D7-A95C-BD2AA8EA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2190750" cy="23812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D9F8E8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4357E0-1E4E-41B6-B38F-F12757F8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86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80F83-72C7-4B63-953C-BE1F588C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Pilot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3EFE2-D6DF-4087-A68D-4A035AB3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14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8E8"/>
          </a:solidFill>
          <a:ln xmlns:a="http://schemas.openxmlformats.org/drawingml/2006/main" w="0">
            <a:solidFill>
              <a:srgbClr val="D9F8E8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Deploy Anchor program, add ledger exports, seller onboarding, wallet proof checks.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AC93DE-B4C2-4987-AD11-5FAA7901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2190750" cy="23812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139ABD-DD38-44AF-92C2-8DBB58A2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60 days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C642D7-87A9-4F15-93F6-7AFDA238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05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Dispute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4749C-6062-4E62-B37B-88350C95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14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Milestones, evidence uploads, admin review, refund path, webhook replay dashboard.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056979-0D66-48DB-BC1F-142C0F7D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76500"/>
            <a:ext cx="2190750" cy="2381250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8D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8BC04-0A64-4236-AD73-77C0CF80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3A9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A96B"/>
                </a:solidFill>
                <a:latin typeface="Aptos"/>
                <a:ea typeface="Aptos"/>
                <a:cs typeface="Aptos"/>
              </a:rPr>
              <a:t>90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02CFFD-241C-4608-ADC9-F041A39F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Scale rails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DFAD45-0009-4AAB-AB23-12EBC9B1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14750"/>
            <a:ext cx="1809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Multi-seller workspaces, accounting integrations, production payments and compliance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36623-30AE-4518-96D7-2A07839B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952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140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140E"/>
                </a:solidFill>
                <a:latin typeface="Aptos"/>
                <a:ea typeface="Aptos"/>
                <a:cs typeface="Aptos"/>
              </a:rPr>
              <a:t>Ask: validate the escrow workflow with 5 to 10 SME projects and measure time-to-secure, time-to-release, and seller withdrawal completion.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DFEC1-E4F9-45AA-BAD1-D838065D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627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8D6"/>
          </a:solidFill>
          <a:ln xmlns:a="http://schemas.openxmlformats.org/drawingml/2006/main" w="0">
            <a:solidFill>
              <a:srgbClr val="DCE8D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6AA35-599A-4A95-8C2C-B2F9E70A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61"/>
                </a:solidFill>
                <a:latin typeface="Aptos"/>
                <a:ea typeface="Aptos"/>
                <a:cs typeface="Aptos"/>
              </a:rPr>
              <a:t>SettleFlow escrow infrastructure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42FF99-F4EF-4A8A-9AEF-10027310F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1985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EF"/>
          </a:solidFill>
          <a:ln xmlns:a="http://schemas.openxmlformats.org/drawingml/2006/main" w="0">
            <a:solidFill>
              <a:srgbClr val="F7FAEF"/>
            </a:solidFill>
          </a:ln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6B6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E6B6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60972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2026-05-09T15:06:55.0070000Z</dcterms:created>
  <dcterms:modified xsi:type="dcterms:W3CDTF">2026-05-09T15:06:55.0070000Z</dcterms:modified>
</coreProperties>
</file>